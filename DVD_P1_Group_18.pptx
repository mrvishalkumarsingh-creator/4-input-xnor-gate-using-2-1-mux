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4" d="100"/>
          <a:sy n="144" d="100"/>
        </p:scale>
        <p:origin x="254" y="7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71060" y="3592285"/>
            <a:ext cx="1872941" cy="155121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33845" y="893949"/>
            <a:ext cx="7886700" cy="0"/>
          </a:xfrm>
          <a:custGeom>
            <a:avLst/>
            <a:gdLst/>
            <a:ahLst/>
            <a:cxnLst/>
            <a:rect l="l" t="t" r="r" b="b"/>
            <a:pathLst>
              <a:path w="7886700">
                <a:moveTo>
                  <a:pt x="0" y="0"/>
                </a:moveTo>
                <a:lnTo>
                  <a:pt x="7886699" y="0"/>
                </a:lnTo>
              </a:path>
            </a:pathLst>
          </a:custGeom>
          <a:ln w="9524">
            <a:solidFill>
              <a:srgbClr val="3DAB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77620" y="416256"/>
            <a:ext cx="514349" cy="3357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820" y="327679"/>
            <a:ext cx="670814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4087" y="1041437"/>
            <a:ext cx="7936865" cy="2191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3EAD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024" y="1831850"/>
            <a:ext cx="7345045" cy="0"/>
          </a:xfrm>
          <a:custGeom>
            <a:avLst/>
            <a:gdLst/>
            <a:ahLst/>
            <a:cxnLst/>
            <a:rect l="l" t="t" r="r" b="b"/>
            <a:pathLst>
              <a:path w="7345045">
                <a:moveTo>
                  <a:pt x="0" y="0"/>
                </a:moveTo>
                <a:lnTo>
                  <a:pt x="7344599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025" y="4094150"/>
            <a:ext cx="4813399" cy="9626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38962" y="3524250"/>
            <a:ext cx="2105024" cy="16192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46783" y="1165437"/>
            <a:ext cx="7202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31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sz="3600" b="1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spc="75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sz="36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spc="305" dirty="0">
                <a:solidFill>
                  <a:srgbClr val="FFFFFF"/>
                </a:solidFill>
                <a:latin typeface="Calibri"/>
                <a:cs typeface="Calibri"/>
              </a:rPr>
              <a:t>XNOR</a:t>
            </a:r>
            <a:r>
              <a:rPr sz="36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spc="160" dirty="0">
                <a:solidFill>
                  <a:srgbClr val="FFFFFF"/>
                </a:solidFill>
                <a:latin typeface="Calibri"/>
                <a:cs typeface="Calibri"/>
              </a:rPr>
              <a:t>gate</a:t>
            </a:r>
            <a:r>
              <a:rPr sz="3600" b="1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spc="185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36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spc="130" dirty="0">
                <a:solidFill>
                  <a:srgbClr val="FFFFFF"/>
                </a:solidFill>
                <a:latin typeface="Calibri"/>
                <a:cs typeface="Calibri"/>
              </a:rPr>
              <a:t>2X1</a:t>
            </a:r>
            <a:r>
              <a:rPr sz="36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spc="170" dirty="0">
                <a:solidFill>
                  <a:srgbClr val="FFFFFF"/>
                </a:solidFill>
                <a:latin typeface="Calibri"/>
                <a:cs typeface="Calibri"/>
              </a:rPr>
              <a:t>MUX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5950" y="1861226"/>
            <a:ext cx="4753610" cy="209867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i="1" u="heavy" spc="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Group</a:t>
            </a:r>
            <a:r>
              <a:rPr sz="1800" i="1" u="heavy" spc="2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800" i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Number:</a:t>
            </a:r>
            <a:r>
              <a:rPr sz="1800" i="1" u="none" spc="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u="none" spc="-25" dirty="0">
                <a:solidFill>
                  <a:srgbClr val="FFFFFF"/>
                </a:solidFill>
                <a:latin typeface="Calibri"/>
                <a:cs typeface="Calibri"/>
              </a:rPr>
              <a:t>18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i="1" u="heavy" spc="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Group</a:t>
            </a:r>
            <a:r>
              <a:rPr sz="1800" i="1" u="heavy" spc="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800" i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Members:</a:t>
            </a:r>
            <a:r>
              <a:rPr sz="1800" i="1" u="none" spc="18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800" u="none" spc="80" dirty="0">
                <a:solidFill>
                  <a:srgbClr val="FFFFFF"/>
                </a:solidFill>
                <a:latin typeface="Calibri"/>
                <a:cs typeface="Calibri"/>
              </a:rPr>
              <a:t>Abhishek</a:t>
            </a:r>
            <a:r>
              <a:rPr sz="1800" u="none" spc="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alibri"/>
                <a:cs typeface="Calibri"/>
              </a:rPr>
              <a:t>Sethi,</a:t>
            </a:r>
            <a:r>
              <a:rPr sz="1800" u="none" spc="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u="none" spc="135" dirty="0">
                <a:solidFill>
                  <a:srgbClr val="FFFFFF"/>
                </a:solidFill>
                <a:latin typeface="Calibri"/>
                <a:cs typeface="Calibri"/>
              </a:rPr>
              <a:t>2023030</a:t>
            </a:r>
            <a:endParaRPr sz="1800">
              <a:latin typeface="Calibri"/>
              <a:cs typeface="Calibri"/>
            </a:endParaRPr>
          </a:p>
          <a:p>
            <a:pPr marL="1781810" marR="5080" indent="14604">
              <a:lnSpc>
                <a:spcPct val="100699"/>
              </a:lnSpc>
            </a:pPr>
            <a:r>
              <a:rPr sz="1800" spc="80" dirty="0">
                <a:solidFill>
                  <a:srgbClr val="FFFFFF"/>
                </a:solidFill>
                <a:latin typeface="Calibri"/>
                <a:cs typeface="Calibri"/>
              </a:rPr>
              <a:t>Devashish</a:t>
            </a:r>
            <a:r>
              <a:rPr sz="180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Mishra,</a:t>
            </a:r>
            <a:r>
              <a:rPr sz="180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MT25112 </a:t>
            </a:r>
            <a:r>
              <a:rPr sz="1800" spc="65" dirty="0">
                <a:solidFill>
                  <a:srgbClr val="FFFFFF"/>
                </a:solidFill>
                <a:latin typeface="Calibri"/>
                <a:cs typeface="Calibri"/>
              </a:rPr>
              <a:t>Vishal</a:t>
            </a:r>
            <a:r>
              <a:rPr sz="180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Kumar</a:t>
            </a:r>
            <a:r>
              <a:rPr sz="18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Calibri"/>
                <a:cs typeface="Calibri"/>
              </a:rPr>
              <a:t>Singh,</a:t>
            </a:r>
            <a:r>
              <a:rPr sz="18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MT25157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Rahul</a:t>
            </a:r>
            <a:r>
              <a:rPr sz="1800" spc="2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IIITD,</a:t>
            </a:r>
            <a:r>
              <a:rPr sz="1800" spc="2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2023417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i="1" u="heavy" spc="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Guided</a:t>
            </a:r>
            <a:r>
              <a:rPr sz="1800" i="1" u="heavy" spc="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800" i="1" u="heavy" spc="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By:</a:t>
            </a:r>
            <a:r>
              <a:rPr sz="1800" i="1" u="none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u="none" spc="50" dirty="0">
                <a:solidFill>
                  <a:srgbClr val="FFFFFF"/>
                </a:solidFill>
                <a:latin typeface="Calibri"/>
                <a:cs typeface="Calibri"/>
              </a:rPr>
              <a:t>Anuj</a:t>
            </a:r>
            <a:r>
              <a:rPr sz="1800" u="none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u="none" spc="40" dirty="0">
                <a:solidFill>
                  <a:srgbClr val="FFFFFF"/>
                </a:solidFill>
                <a:latin typeface="Calibri"/>
                <a:cs typeface="Calibri"/>
              </a:rPr>
              <a:t>Grover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75" dirty="0"/>
              <a:t> </a:t>
            </a:r>
            <a:r>
              <a:rPr dirty="0"/>
              <a:t>logic</a:t>
            </a:r>
            <a:r>
              <a:rPr spc="-70" dirty="0"/>
              <a:t> </a:t>
            </a:r>
            <a:r>
              <a:rPr dirty="0"/>
              <a:t>has</a:t>
            </a:r>
            <a:r>
              <a:rPr spc="-70" dirty="0"/>
              <a:t> </a:t>
            </a:r>
            <a:r>
              <a:rPr dirty="0"/>
              <a:t>been</a:t>
            </a:r>
            <a:r>
              <a:rPr spc="-70" dirty="0"/>
              <a:t> </a:t>
            </a:r>
            <a:r>
              <a:rPr spc="-10" dirty="0"/>
              <a:t>used?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437" y="1106275"/>
            <a:ext cx="8091122" cy="33969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86300" y="4670331"/>
            <a:ext cx="2636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Calibri"/>
                <a:cs typeface="Calibri"/>
              </a:rPr>
              <a:t>4X1</a:t>
            </a:r>
            <a:r>
              <a:rPr sz="1800" spc="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800" spc="155" dirty="0">
                <a:solidFill>
                  <a:srgbClr val="595959"/>
                </a:solidFill>
                <a:latin typeface="Calibri"/>
                <a:cs typeface="Calibri"/>
              </a:rPr>
              <a:t>XNOR</a:t>
            </a:r>
            <a:r>
              <a:rPr sz="1800" spc="75" dirty="0">
                <a:solidFill>
                  <a:srgbClr val="595959"/>
                </a:solidFill>
                <a:latin typeface="Calibri"/>
                <a:cs typeface="Calibri"/>
              </a:rPr>
              <a:t> using </a:t>
            </a:r>
            <a:r>
              <a:rPr sz="1800" dirty="0">
                <a:solidFill>
                  <a:srgbClr val="595959"/>
                </a:solidFill>
                <a:latin typeface="Calibri"/>
                <a:cs typeface="Calibri"/>
              </a:rPr>
              <a:t>2X1</a:t>
            </a:r>
            <a:r>
              <a:rPr sz="1800" spc="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800" spc="55" dirty="0">
                <a:solidFill>
                  <a:srgbClr val="595959"/>
                </a:solidFill>
                <a:latin typeface="Calibri"/>
                <a:cs typeface="Calibri"/>
              </a:rPr>
              <a:t>MUX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Schematic</a:t>
            </a:r>
            <a:r>
              <a:rPr spc="-90" dirty="0"/>
              <a:t> </a:t>
            </a:r>
            <a:r>
              <a:rPr dirty="0"/>
              <a:t>+</a:t>
            </a:r>
            <a:r>
              <a:rPr spc="-90" dirty="0"/>
              <a:t> </a:t>
            </a:r>
            <a:r>
              <a:rPr spc="-10" dirty="0"/>
              <a:t>Sizing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5024" y="4317735"/>
            <a:ext cx="37191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20" dirty="0">
                <a:solidFill>
                  <a:srgbClr val="3EADA7"/>
                </a:solidFill>
                <a:latin typeface="Calibri"/>
                <a:cs typeface="Calibri"/>
              </a:rPr>
              <a:t>Transistors</a:t>
            </a:r>
            <a:r>
              <a:rPr sz="1200" b="1" spc="60" dirty="0">
                <a:solidFill>
                  <a:srgbClr val="3EADA7"/>
                </a:solidFill>
                <a:latin typeface="Calibri"/>
                <a:cs typeface="Calibri"/>
              </a:rPr>
              <a:t> </a:t>
            </a:r>
            <a:r>
              <a:rPr sz="1200" b="1" spc="20" dirty="0">
                <a:solidFill>
                  <a:srgbClr val="3EADA7"/>
                </a:solidFill>
                <a:latin typeface="Calibri"/>
                <a:cs typeface="Calibri"/>
              </a:rPr>
              <a:t>Width</a:t>
            </a:r>
            <a:r>
              <a:rPr sz="1200" b="1" spc="60" dirty="0">
                <a:solidFill>
                  <a:srgbClr val="3EADA7"/>
                </a:solidFill>
                <a:latin typeface="Calibri"/>
                <a:cs typeface="Calibri"/>
              </a:rPr>
              <a:t> </a:t>
            </a:r>
            <a:r>
              <a:rPr sz="1200" b="1" spc="20" dirty="0">
                <a:solidFill>
                  <a:srgbClr val="3EADA7"/>
                </a:solidFill>
                <a:latin typeface="Calibri"/>
                <a:cs typeface="Calibri"/>
              </a:rPr>
              <a:t>in</a:t>
            </a:r>
            <a:r>
              <a:rPr sz="1200" b="1" spc="60" dirty="0">
                <a:solidFill>
                  <a:srgbClr val="3EADA7"/>
                </a:solidFill>
                <a:latin typeface="Calibri"/>
                <a:cs typeface="Calibri"/>
              </a:rPr>
              <a:t> </a:t>
            </a:r>
            <a:r>
              <a:rPr sz="1200" b="1" spc="65" dirty="0">
                <a:solidFill>
                  <a:srgbClr val="3EADA7"/>
                </a:solidFill>
                <a:latin typeface="Calibri"/>
                <a:cs typeface="Calibri"/>
              </a:rPr>
              <a:t>MUX</a:t>
            </a:r>
            <a:r>
              <a:rPr sz="1200" b="1" spc="60" dirty="0">
                <a:solidFill>
                  <a:srgbClr val="3EADA7"/>
                </a:solidFill>
                <a:latin typeface="Calibri"/>
                <a:cs typeface="Calibri"/>
              </a:rPr>
              <a:t> </a:t>
            </a:r>
            <a:r>
              <a:rPr sz="1200" b="1" spc="20" dirty="0">
                <a:solidFill>
                  <a:srgbClr val="3EADA7"/>
                </a:solidFill>
                <a:latin typeface="Calibri"/>
                <a:cs typeface="Calibri"/>
              </a:rPr>
              <a:t>with</a:t>
            </a:r>
            <a:r>
              <a:rPr sz="1200" b="1" spc="65" dirty="0">
                <a:solidFill>
                  <a:srgbClr val="3EADA7"/>
                </a:solidFill>
                <a:latin typeface="Calibri"/>
                <a:cs typeface="Calibri"/>
              </a:rPr>
              <a:t> </a:t>
            </a:r>
            <a:r>
              <a:rPr sz="1200" b="1" spc="50" dirty="0">
                <a:solidFill>
                  <a:srgbClr val="3EADA7"/>
                </a:solidFill>
                <a:latin typeface="Calibri"/>
                <a:cs typeface="Calibri"/>
              </a:rPr>
              <a:t>respect</a:t>
            </a:r>
            <a:r>
              <a:rPr sz="1200" b="1" spc="60" dirty="0">
                <a:solidFill>
                  <a:srgbClr val="3EADA7"/>
                </a:solidFill>
                <a:latin typeface="Calibri"/>
                <a:cs typeface="Calibri"/>
              </a:rPr>
              <a:t> </a:t>
            </a:r>
            <a:r>
              <a:rPr sz="1200" b="1" spc="20" dirty="0">
                <a:solidFill>
                  <a:srgbClr val="3EADA7"/>
                </a:solidFill>
                <a:latin typeface="Calibri"/>
                <a:cs typeface="Calibri"/>
              </a:rPr>
              <a:t>to</a:t>
            </a:r>
            <a:r>
              <a:rPr sz="1200" b="1" spc="60" dirty="0">
                <a:solidFill>
                  <a:srgbClr val="3EADA7"/>
                </a:solidFill>
                <a:latin typeface="Calibri"/>
                <a:cs typeface="Calibri"/>
              </a:rPr>
              <a:t> </a:t>
            </a:r>
            <a:r>
              <a:rPr sz="1200" b="1" spc="20" dirty="0">
                <a:solidFill>
                  <a:srgbClr val="3EADA7"/>
                </a:solidFill>
                <a:latin typeface="Calibri"/>
                <a:cs typeface="Calibri"/>
              </a:rPr>
              <a:t>unit</a:t>
            </a:r>
            <a:r>
              <a:rPr sz="1200" b="1" spc="60" dirty="0">
                <a:solidFill>
                  <a:srgbClr val="3EADA7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3EADA7"/>
                </a:solidFill>
                <a:latin typeface="Calibri"/>
                <a:cs typeface="Calibri"/>
              </a:rPr>
              <a:t>inverter </a:t>
            </a:r>
            <a:r>
              <a:rPr sz="1200" b="1" spc="60" dirty="0">
                <a:solidFill>
                  <a:srgbClr val="595959"/>
                </a:solidFill>
                <a:latin typeface="Calibri"/>
                <a:cs typeface="Calibri"/>
              </a:rPr>
              <a:t>PMOS:</a:t>
            </a:r>
            <a:r>
              <a:rPr sz="1200" b="1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95959"/>
                </a:solidFill>
                <a:latin typeface="Calibri"/>
                <a:cs typeface="Calibri"/>
              </a:rPr>
              <a:t>0.135</a:t>
            </a:r>
            <a:r>
              <a:rPr sz="12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595959"/>
                </a:solidFill>
                <a:latin typeface="Calibri"/>
                <a:cs typeface="Calibri"/>
              </a:rPr>
              <a:t>*4</a:t>
            </a:r>
            <a:r>
              <a:rPr sz="12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95959"/>
                </a:solidFill>
                <a:latin typeface="Calibri"/>
                <a:cs typeface="Calibri"/>
              </a:rPr>
              <a:t>=</a:t>
            </a:r>
            <a:r>
              <a:rPr sz="12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95959"/>
                </a:solidFill>
                <a:latin typeface="Calibri"/>
                <a:cs typeface="Calibri"/>
              </a:rPr>
              <a:t>0.54</a:t>
            </a:r>
            <a:r>
              <a:rPr sz="12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595959"/>
                </a:solidFill>
                <a:latin typeface="Calibri"/>
                <a:cs typeface="Calibri"/>
              </a:rPr>
              <a:t>um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spc="55" dirty="0">
                <a:solidFill>
                  <a:srgbClr val="595959"/>
                </a:solidFill>
                <a:latin typeface="Calibri"/>
                <a:cs typeface="Calibri"/>
              </a:rPr>
              <a:t>NMOS:</a:t>
            </a:r>
            <a:r>
              <a:rPr sz="1200" b="1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95959"/>
                </a:solidFill>
                <a:latin typeface="Calibri"/>
                <a:cs typeface="Calibri"/>
              </a:rPr>
              <a:t>0.135</a:t>
            </a:r>
            <a:r>
              <a:rPr sz="12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spc="-200" dirty="0">
                <a:solidFill>
                  <a:srgbClr val="595959"/>
                </a:solidFill>
                <a:latin typeface="Calibri"/>
                <a:cs typeface="Calibri"/>
              </a:rPr>
              <a:t>*</a:t>
            </a:r>
            <a:r>
              <a:rPr sz="12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spc="90" dirty="0">
                <a:solidFill>
                  <a:srgbClr val="595959"/>
                </a:solidFill>
                <a:latin typeface="Calibri"/>
                <a:cs typeface="Calibri"/>
              </a:rPr>
              <a:t>2</a:t>
            </a:r>
            <a:r>
              <a:rPr sz="12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95959"/>
                </a:solidFill>
                <a:latin typeface="Calibri"/>
                <a:cs typeface="Calibri"/>
              </a:rPr>
              <a:t>=</a:t>
            </a:r>
            <a:r>
              <a:rPr sz="12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95959"/>
                </a:solidFill>
                <a:latin typeface="Calibri"/>
                <a:cs typeface="Calibri"/>
              </a:rPr>
              <a:t>0.27</a:t>
            </a:r>
            <a:r>
              <a:rPr sz="12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595959"/>
                </a:solidFill>
                <a:latin typeface="Calibri"/>
                <a:cs typeface="Calibri"/>
              </a:rPr>
              <a:t>um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spc="45" dirty="0">
                <a:solidFill>
                  <a:srgbClr val="595959"/>
                </a:solidFill>
                <a:latin typeface="Calibri"/>
                <a:cs typeface="Calibri"/>
              </a:rPr>
              <a:t>Length:</a:t>
            </a:r>
            <a:r>
              <a:rPr sz="1200" b="1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595959"/>
                </a:solidFill>
                <a:latin typeface="Calibri"/>
                <a:cs typeface="Calibri"/>
              </a:rPr>
              <a:t>0.06</a:t>
            </a:r>
            <a:r>
              <a:rPr sz="12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95959"/>
                </a:solidFill>
                <a:latin typeface="Calibri"/>
                <a:cs typeface="Calibri"/>
              </a:rPr>
              <a:t>um</a:t>
            </a:r>
            <a:r>
              <a:rPr sz="12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95959"/>
                </a:solidFill>
                <a:latin typeface="Calibri"/>
                <a:cs typeface="Calibri"/>
              </a:rPr>
              <a:t>(for</a:t>
            </a:r>
            <a:r>
              <a:rPr sz="12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95959"/>
                </a:solidFill>
                <a:latin typeface="Calibri"/>
                <a:cs typeface="Calibri"/>
              </a:rPr>
              <a:t>all</a:t>
            </a:r>
            <a:r>
              <a:rPr sz="12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200" spc="40" dirty="0">
                <a:solidFill>
                  <a:srgbClr val="595959"/>
                </a:solidFill>
                <a:latin typeface="Calibri"/>
                <a:cs typeface="Calibri"/>
              </a:rPr>
              <a:t>cases)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9200" y="2582837"/>
            <a:ext cx="3102099" cy="16601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9200" y="1013851"/>
            <a:ext cx="3048873" cy="14720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463" y="1434250"/>
            <a:ext cx="5005532" cy="32787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Stimuli</a:t>
            </a:r>
            <a:r>
              <a:rPr spc="-75" dirty="0"/>
              <a:t> </a:t>
            </a:r>
            <a:r>
              <a:rPr dirty="0"/>
              <a:t>For</a:t>
            </a:r>
            <a:r>
              <a:rPr spc="-120" dirty="0"/>
              <a:t> </a:t>
            </a:r>
            <a:r>
              <a:rPr spc="-30" dirty="0"/>
              <a:t>Verification</a:t>
            </a:r>
            <a:r>
              <a:rPr spc="-70" dirty="0"/>
              <a:t> </a:t>
            </a:r>
            <a:r>
              <a:rPr dirty="0"/>
              <a:t>&amp;</a:t>
            </a:r>
            <a:r>
              <a:rPr spc="-125" dirty="0"/>
              <a:t> </a:t>
            </a:r>
            <a:r>
              <a:rPr spc="-30" dirty="0"/>
              <a:t>Verification</a:t>
            </a:r>
            <a:r>
              <a:rPr spc="-70" dirty="0"/>
              <a:t> </a:t>
            </a:r>
            <a:r>
              <a:rPr spc="-20" dirty="0"/>
              <a:t>Plan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92187" y="1041437"/>
          <a:ext cx="7936865" cy="2191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1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1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14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14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Input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39941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Initial </a:t>
                      </a:r>
                      <a:r>
                        <a:rPr sz="1400" b="1" spc="-25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Voltage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39941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0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Peak </a:t>
                      </a:r>
                      <a:r>
                        <a:rPr sz="1400" b="1" spc="-25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Voltage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Rise</a:t>
                      </a:r>
                      <a:r>
                        <a:rPr sz="1400" b="1" spc="-20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 Time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Fall</a:t>
                      </a:r>
                      <a:r>
                        <a:rPr sz="1400" b="1" spc="-20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 Time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5365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Pulse Width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47561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0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Time </a:t>
                      </a:r>
                      <a:r>
                        <a:rPr sz="1400" b="1" spc="-10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Period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50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1.08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20p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20p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10n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20n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50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1.08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20p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20p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5n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10n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50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1.08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20p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20p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20n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40n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50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1.08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20p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20p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40n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80n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70049" y="3395563"/>
            <a:ext cx="7708900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595959"/>
                </a:solidFill>
                <a:latin typeface="Calibri"/>
                <a:cs typeface="Calibri"/>
              </a:rPr>
              <a:t>Veriﬁcation</a:t>
            </a:r>
            <a:r>
              <a:rPr sz="1400" b="1" spc="2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95959"/>
                </a:solidFill>
                <a:latin typeface="Calibri"/>
                <a:cs typeface="Calibri"/>
              </a:rPr>
              <a:t>Plan:</a:t>
            </a:r>
            <a:r>
              <a:rPr sz="1400" b="1" spc="2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We</a:t>
            </a:r>
            <a:r>
              <a:rPr sz="1400" spc="2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595959"/>
                </a:solidFill>
                <a:latin typeface="Calibri"/>
                <a:cs typeface="Calibri"/>
              </a:rPr>
              <a:t>have</a:t>
            </a:r>
            <a:r>
              <a:rPr sz="1400" spc="2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kept</a:t>
            </a:r>
            <a:r>
              <a:rPr sz="1400" spc="2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stimuli</a:t>
            </a:r>
            <a:r>
              <a:rPr sz="1400" spc="2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1400" spc="2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595959"/>
                </a:solidFill>
                <a:latin typeface="Calibri"/>
                <a:cs typeface="Calibri"/>
              </a:rPr>
              <a:t>such</a:t>
            </a:r>
            <a:r>
              <a:rPr sz="1400" spc="2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1400" spc="2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way</a:t>
            </a:r>
            <a:r>
              <a:rPr sz="1400" spc="2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all</a:t>
            </a:r>
            <a:r>
              <a:rPr sz="1400" spc="2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400" spc="2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16</a:t>
            </a:r>
            <a:r>
              <a:rPr sz="1400" spc="2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595959"/>
                </a:solidFill>
                <a:latin typeface="Calibri"/>
                <a:cs typeface="Calibri"/>
              </a:rPr>
              <a:t>possible</a:t>
            </a:r>
            <a:r>
              <a:rPr sz="1400" spc="2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input</a:t>
            </a:r>
            <a:r>
              <a:rPr sz="1400" spc="2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combination</a:t>
            </a:r>
            <a:r>
              <a:rPr sz="1400" spc="2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595959"/>
                </a:solidFill>
                <a:latin typeface="Calibri"/>
                <a:cs typeface="Calibri"/>
              </a:rPr>
              <a:t>cases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1400" spc="25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595959"/>
                </a:solidFill>
                <a:latin typeface="Calibri"/>
                <a:cs typeface="Calibri"/>
              </a:rPr>
              <a:t>covered</a:t>
            </a:r>
            <a:r>
              <a:rPr sz="1400" spc="25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(which</a:t>
            </a:r>
            <a:r>
              <a:rPr sz="1400" spc="25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1400" spc="25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shown</a:t>
            </a:r>
            <a:r>
              <a:rPr sz="1400" spc="25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above)</a:t>
            </a:r>
            <a:r>
              <a:rPr sz="1400" spc="25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400" spc="2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1400" spc="25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400" spc="25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delay</a:t>
            </a:r>
            <a:r>
              <a:rPr sz="1400" spc="25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calculation</a:t>
            </a:r>
            <a:r>
              <a:rPr sz="1400" spc="25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400" spc="25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stimuli</a:t>
            </a:r>
            <a:r>
              <a:rPr sz="1400" spc="2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1400" spc="25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little</a:t>
            </a:r>
            <a:r>
              <a:rPr sz="1400" spc="25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595959"/>
                </a:solidFill>
                <a:latin typeface="Calibri"/>
                <a:cs typeface="Calibri"/>
              </a:rPr>
              <a:t>changed</a:t>
            </a:r>
            <a:r>
              <a:rPr sz="1400" spc="25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Calibri"/>
                <a:cs typeface="Calibri"/>
              </a:rPr>
              <a:t>in </a:t>
            </a:r>
            <a:r>
              <a:rPr sz="1400" spc="65" dirty="0">
                <a:solidFill>
                  <a:srgbClr val="595959"/>
                </a:solidFill>
                <a:latin typeface="Calibri"/>
                <a:cs typeface="Calibri"/>
              </a:rPr>
              <a:t>such</a:t>
            </a:r>
            <a:r>
              <a:rPr sz="1400" spc="4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1400" spc="4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way</a:t>
            </a:r>
            <a:r>
              <a:rPr sz="1400" spc="4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that,</a:t>
            </a:r>
            <a:r>
              <a:rPr sz="1400" spc="4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1400" spc="4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example</a:t>
            </a:r>
            <a:r>
              <a:rPr sz="1400" spc="4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when</a:t>
            </a:r>
            <a:r>
              <a:rPr sz="1400" spc="4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595959"/>
                </a:solidFill>
                <a:latin typeface="Calibri"/>
                <a:cs typeface="Calibri"/>
              </a:rPr>
              <a:t>Delay</a:t>
            </a:r>
            <a:r>
              <a:rPr sz="1400" spc="4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1400" spc="4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110" dirty="0">
                <a:solidFill>
                  <a:srgbClr val="595959"/>
                </a:solidFill>
                <a:latin typeface="Calibri"/>
                <a:cs typeface="Calibri"/>
              </a:rPr>
              <a:t>B</a:t>
            </a:r>
            <a:r>
              <a:rPr sz="1400" spc="4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1400" spc="4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calculated,</a:t>
            </a:r>
            <a:r>
              <a:rPr sz="1400" spc="4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400" spc="4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other</a:t>
            </a:r>
            <a:r>
              <a:rPr sz="1400" spc="4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input</a:t>
            </a:r>
            <a:r>
              <a:rPr sz="1400" spc="4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should</a:t>
            </a:r>
            <a:r>
              <a:rPr sz="1400" spc="4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remain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constant</a:t>
            </a:r>
            <a:r>
              <a:rPr sz="1400" spc="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at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595959"/>
                </a:solidFill>
                <a:latin typeface="Calibri"/>
                <a:cs typeface="Calibri"/>
              </a:rPr>
              <a:t>edge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595959"/>
                </a:solidFill>
                <a:latin typeface="Calibri"/>
                <a:cs typeface="Calibri"/>
              </a:rPr>
              <a:t>else</a:t>
            </a:r>
            <a:r>
              <a:rPr sz="1400" spc="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it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will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hamper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400" spc="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results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595959"/>
                </a:solidFill>
                <a:latin typeface="Calibri"/>
                <a:cs typeface="Calibri"/>
              </a:rPr>
              <a:t>leads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1400" spc="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distortion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output</a:t>
            </a:r>
            <a:r>
              <a:rPr sz="1400" spc="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waveform. </a:t>
            </a:r>
            <a:r>
              <a:rPr sz="1400" spc="75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400" spc="3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595959"/>
                </a:solidFill>
                <a:latin typeface="Calibri"/>
                <a:cs typeface="Calibri"/>
              </a:rPr>
              <a:t>above</a:t>
            </a:r>
            <a:r>
              <a:rPr sz="1400" spc="3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stimuli</a:t>
            </a:r>
            <a:r>
              <a:rPr sz="1400" spc="3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1400" spc="3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example</a:t>
            </a:r>
            <a:r>
              <a:rPr sz="1400" spc="3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1400" spc="3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400" spc="3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595959"/>
                </a:solidFill>
                <a:latin typeface="Calibri"/>
                <a:cs typeface="Calibri"/>
              </a:rPr>
              <a:t>same</a:t>
            </a:r>
            <a:r>
              <a:rPr sz="1400" spc="3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which</a:t>
            </a:r>
            <a:r>
              <a:rPr sz="1400" spc="3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1400" spc="3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595959"/>
                </a:solidFill>
                <a:latin typeface="Calibri"/>
                <a:cs typeface="Calibri"/>
              </a:rPr>
              <a:t>used</a:t>
            </a:r>
            <a:r>
              <a:rPr sz="1400" spc="3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1400" spc="3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calculating</a:t>
            </a:r>
            <a:r>
              <a:rPr sz="1400" spc="3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110" dirty="0">
                <a:solidFill>
                  <a:srgbClr val="595959"/>
                </a:solidFill>
                <a:latin typeface="Calibri"/>
                <a:cs typeface="Calibri"/>
              </a:rPr>
              <a:t>B</a:t>
            </a:r>
            <a:r>
              <a:rPr sz="1400" spc="3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input</a:t>
            </a:r>
            <a:r>
              <a:rPr sz="1400" spc="3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delay</a:t>
            </a:r>
            <a:r>
              <a:rPr sz="1400" spc="3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400" spc="3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their </a:t>
            </a:r>
            <a:r>
              <a:rPr sz="1400" spc="50" dirty="0">
                <a:solidFill>
                  <a:srgbClr val="595959"/>
                </a:solidFill>
                <a:latin typeface="Calibri"/>
                <a:cs typeface="Calibri"/>
              </a:rPr>
              <a:t>pulse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width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time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period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595959"/>
                </a:solidFill>
                <a:latin typeface="Calibri"/>
                <a:cs typeface="Calibri"/>
              </a:rPr>
              <a:t>has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595959"/>
                </a:solidFill>
                <a:latin typeface="Calibri"/>
                <a:cs typeface="Calibri"/>
              </a:rPr>
              <a:t>been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set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595959"/>
                </a:solidFill>
                <a:latin typeface="Calibri"/>
                <a:cs typeface="Calibri"/>
              </a:rPr>
              <a:t>such</a:t>
            </a:r>
            <a:r>
              <a:rPr sz="1400" spc="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manner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there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no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abrupt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595959"/>
                </a:solidFill>
                <a:latin typeface="Calibri"/>
                <a:cs typeface="Calibri"/>
              </a:rPr>
              <a:t>change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Calibri"/>
                <a:cs typeface="Calibri"/>
              </a:rPr>
              <a:t>the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other</a:t>
            </a:r>
            <a:r>
              <a:rPr sz="14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inputs</a:t>
            </a:r>
            <a:r>
              <a:rPr sz="14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(except</a:t>
            </a:r>
            <a:r>
              <a:rPr sz="14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B)</a:t>
            </a:r>
            <a:r>
              <a:rPr sz="14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at</a:t>
            </a:r>
            <a:r>
              <a:rPr sz="14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4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rising</a:t>
            </a:r>
            <a:r>
              <a:rPr sz="1400" spc="2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4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falling</a:t>
            </a:r>
            <a:r>
              <a:rPr sz="14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595959"/>
                </a:solidFill>
                <a:latin typeface="Calibri"/>
                <a:cs typeface="Calibri"/>
              </a:rPr>
              <a:t>edge</a:t>
            </a:r>
            <a:r>
              <a:rPr sz="14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14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B.</a:t>
            </a:r>
            <a:r>
              <a:rPr sz="14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We</a:t>
            </a:r>
            <a:r>
              <a:rPr sz="14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595959"/>
                </a:solidFill>
                <a:latin typeface="Calibri"/>
                <a:cs typeface="Calibri"/>
              </a:rPr>
              <a:t>have</a:t>
            </a:r>
            <a:r>
              <a:rPr sz="1400" spc="2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595959"/>
                </a:solidFill>
                <a:latin typeface="Calibri"/>
                <a:cs typeface="Calibri"/>
              </a:rPr>
              <a:t>used</a:t>
            </a:r>
            <a:r>
              <a:rPr sz="14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4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similar</a:t>
            </a:r>
            <a:r>
              <a:rPr sz="14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methodology </a:t>
            </a:r>
            <a:r>
              <a:rPr sz="1400" spc="1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1400" spc="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Calibri"/>
                <a:cs typeface="Calibri"/>
              </a:rPr>
              <a:t>calculating</a:t>
            </a:r>
            <a:r>
              <a:rPr sz="1400" spc="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400" spc="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595959"/>
                </a:solidFill>
                <a:latin typeface="Calibri"/>
                <a:cs typeface="Calibri"/>
              </a:rPr>
              <a:t>delays</a:t>
            </a:r>
            <a:r>
              <a:rPr sz="1400" spc="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1400" spc="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Calibri"/>
                <a:cs typeface="Calibri"/>
              </a:rPr>
              <a:t>other</a:t>
            </a:r>
            <a:r>
              <a:rPr sz="1400" spc="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Calibri"/>
                <a:cs typeface="Calibri"/>
              </a:rPr>
              <a:t>inputs</a:t>
            </a:r>
            <a:r>
              <a:rPr sz="1400" spc="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1400" spc="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well.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Delay</a:t>
            </a:r>
            <a:r>
              <a:rPr spc="-85" dirty="0"/>
              <a:t> </a:t>
            </a:r>
            <a:r>
              <a:rPr dirty="0"/>
              <a:t>Calculation</a:t>
            </a:r>
            <a:r>
              <a:rPr spc="-80" dirty="0"/>
              <a:t> </a:t>
            </a:r>
            <a:r>
              <a:rPr dirty="0"/>
              <a:t>&amp;</a:t>
            </a:r>
            <a:r>
              <a:rPr spc="-130" dirty="0"/>
              <a:t> </a:t>
            </a:r>
            <a:r>
              <a:rPr spc="-20" dirty="0"/>
              <a:t>Verification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9037" y="1041562"/>
          <a:ext cx="3526154" cy="1749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9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Input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20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TPLH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20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TPHL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25" dirty="0">
                          <a:solidFill>
                            <a:srgbClr val="3EADA7"/>
                          </a:solidFill>
                          <a:latin typeface="Arial"/>
                          <a:cs typeface="Arial"/>
                        </a:rPr>
                        <a:t>TPD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567.75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ps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375.13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ps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471.44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ps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B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458.31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ps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389.88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ps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420.09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ps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C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559.50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ps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597.62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ps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578.56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ps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394.26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ps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394.48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ps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394.37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ps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06824" y="2941111"/>
            <a:ext cx="5364480" cy="170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3EADA7"/>
                </a:solidFill>
                <a:latin typeface="Calibri"/>
                <a:cs typeface="Calibri"/>
              </a:rPr>
              <a:t>Veriﬁcation:</a:t>
            </a:r>
            <a:r>
              <a:rPr sz="1100" b="1" spc="195" dirty="0">
                <a:solidFill>
                  <a:srgbClr val="3EADA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1100" spc="2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delay</a:t>
            </a:r>
            <a:r>
              <a:rPr sz="1100" spc="2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calculation,</a:t>
            </a:r>
            <a:r>
              <a:rPr sz="1100" spc="2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we</a:t>
            </a:r>
            <a:r>
              <a:rPr sz="1100" spc="2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have</a:t>
            </a:r>
            <a:r>
              <a:rPr sz="1100" spc="2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595959"/>
                </a:solidFill>
                <a:latin typeface="Calibri"/>
                <a:cs typeface="Calibri"/>
              </a:rPr>
              <a:t>used</a:t>
            </a:r>
            <a:r>
              <a:rPr sz="1100" spc="2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1100" spc="2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command</a:t>
            </a:r>
            <a:r>
              <a:rPr sz="1100" spc="1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1100" spc="2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100" spc="2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.cir</a:t>
            </a:r>
            <a:r>
              <a:rPr sz="1100" spc="2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ﬁle.</a:t>
            </a:r>
            <a:r>
              <a:rPr sz="1100" spc="2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Initially</a:t>
            </a:r>
            <a:r>
              <a:rPr sz="1100" spc="2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595959"/>
                </a:solidFill>
                <a:latin typeface="Calibri"/>
                <a:cs typeface="Calibri"/>
              </a:rPr>
              <a:t>we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put</a:t>
            </a:r>
            <a:r>
              <a:rPr sz="1100" spc="2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70" dirty="0">
                <a:solidFill>
                  <a:srgbClr val="595959"/>
                </a:solidFill>
                <a:latin typeface="Calibri"/>
                <a:cs typeface="Calibri"/>
              </a:rPr>
              <a:t>RISE</a:t>
            </a:r>
            <a:r>
              <a:rPr sz="11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100" spc="2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85" dirty="0">
                <a:solidFill>
                  <a:srgbClr val="595959"/>
                </a:solidFill>
                <a:latin typeface="Calibri"/>
                <a:cs typeface="Calibri"/>
              </a:rPr>
              <a:t>FALL</a:t>
            </a:r>
            <a:r>
              <a:rPr sz="11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numbers</a:t>
            </a:r>
            <a:r>
              <a:rPr sz="11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randomly</a:t>
            </a:r>
            <a:r>
              <a:rPr sz="1100" spc="2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1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then</a:t>
            </a:r>
            <a:r>
              <a:rPr sz="11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veriﬁed</a:t>
            </a:r>
            <a:r>
              <a:rPr sz="1100" spc="2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it</a:t>
            </a:r>
            <a:r>
              <a:rPr sz="11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by</a:t>
            </a:r>
            <a:r>
              <a:rPr sz="11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595959"/>
                </a:solidFill>
                <a:latin typeface="Calibri"/>
                <a:cs typeface="Calibri"/>
              </a:rPr>
              <a:t>using</a:t>
            </a:r>
            <a:r>
              <a:rPr sz="1100" spc="2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595959"/>
                </a:solidFill>
                <a:latin typeface="Calibri"/>
                <a:cs typeface="Calibri"/>
              </a:rPr>
              <a:t>ezwave</a:t>
            </a:r>
            <a:r>
              <a:rPr sz="11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Calibri"/>
                <a:cs typeface="Calibri"/>
              </a:rPr>
              <a:t>simulation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1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then</a:t>
            </a:r>
            <a:r>
              <a:rPr sz="1100" spc="2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update</a:t>
            </a:r>
            <a:r>
              <a:rPr sz="1100" spc="2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those</a:t>
            </a:r>
            <a:r>
              <a:rPr sz="1100" spc="2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rise</a:t>
            </a:r>
            <a:r>
              <a:rPr sz="1100" spc="2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100" spc="2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fall</a:t>
            </a:r>
            <a:r>
              <a:rPr sz="1100" spc="2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numbers</a:t>
            </a:r>
            <a:r>
              <a:rPr sz="1100" spc="2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which</a:t>
            </a:r>
            <a:r>
              <a:rPr sz="1100" spc="2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create</a:t>
            </a:r>
            <a:r>
              <a:rPr sz="1100" spc="2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problem.</a:t>
            </a:r>
            <a:r>
              <a:rPr sz="1100" spc="20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After</a:t>
            </a:r>
            <a:r>
              <a:rPr sz="1100" spc="2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this,</a:t>
            </a:r>
            <a:r>
              <a:rPr sz="1100" spc="2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we</a:t>
            </a:r>
            <a:r>
              <a:rPr sz="1100" spc="2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35" dirty="0">
                <a:solidFill>
                  <a:srgbClr val="595959"/>
                </a:solidFill>
                <a:latin typeface="Calibri"/>
                <a:cs typeface="Calibri"/>
              </a:rPr>
              <a:t>used </a:t>
            </a:r>
            <a:r>
              <a:rPr sz="1100" spc="10" dirty="0">
                <a:solidFill>
                  <a:srgbClr val="595959"/>
                </a:solidFill>
                <a:latin typeface="Calibri"/>
                <a:cs typeface="Calibri"/>
              </a:rPr>
              <a:t>cursor</a:t>
            </a:r>
            <a:r>
              <a:rPr sz="1100" spc="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1100" spc="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595959"/>
                </a:solidFill>
                <a:latin typeface="Calibri"/>
                <a:cs typeface="Calibri"/>
              </a:rPr>
              <a:t>verify</a:t>
            </a:r>
            <a:r>
              <a:rPr sz="1100" spc="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100" spc="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595959"/>
                </a:solidFill>
                <a:latin typeface="Calibri"/>
                <a:cs typeface="Calibri"/>
              </a:rPr>
              <a:t>propagation</a:t>
            </a:r>
            <a:r>
              <a:rPr sz="1100" spc="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595959"/>
                </a:solidFill>
                <a:latin typeface="Calibri"/>
                <a:cs typeface="Calibri"/>
              </a:rPr>
              <a:t>delay,</a:t>
            </a:r>
            <a:r>
              <a:rPr sz="1100" spc="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595959"/>
                </a:solidFill>
                <a:latin typeface="Calibri"/>
                <a:cs typeface="Calibri"/>
              </a:rPr>
              <a:t>we</a:t>
            </a:r>
            <a:r>
              <a:rPr sz="1100" spc="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595959"/>
                </a:solidFill>
                <a:latin typeface="Calibri"/>
                <a:cs typeface="Calibri"/>
              </a:rPr>
              <a:t>put</a:t>
            </a:r>
            <a:r>
              <a:rPr sz="1100" spc="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100" spc="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595959"/>
                </a:solidFill>
                <a:latin typeface="Calibri"/>
                <a:cs typeface="Calibri"/>
              </a:rPr>
              <a:t>ﬁrst</a:t>
            </a:r>
            <a:r>
              <a:rPr sz="1100" spc="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595959"/>
                </a:solidFill>
                <a:latin typeface="Calibri"/>
                <a:cs typeface="Calibri"/>
              </a:rPr>
              <a:t>cursor</a:t>
            </a:r>
            <a:r>
              <a:rPr sz="1100" spc="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595959"/>
                </a:solidFill>
                <a:latin typeface="Calibri"/>
                <a:cs typeface="Calibri"/>
              </a:rPr>
              <a:t>at</a:t>
            </a:r>
            <a:r>
              <a:rPr sz="1100" spc="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100" spc="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595959"/>
                </a:solidFill>
                <a:latin typeface="Calibri"/>
                <a:cs typeface="Calibri"/>
              </a:rPr>
              <a:t>point</a:t>
            </a:r>
            <a:r>
              <a:rPr sz="1100" spc="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1100" spc="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100" spc="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Calibri"/>
                <a:cs typeface="Calibri"/>
              </a:rPr>
              <a:t>output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waveform</a:t>
            </a:r>
            <a:r>
              <a:rPr sz="1100" spc="2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which</a:t>
            </a:r>
            <a:r>
              <a:rPr sz="1100" spc="229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595959"/>
                </a:solidFill>
                <a:latin typeface="Calibri"/>
                <a:cs typeface="Calibri"/>
              </a:rPr>
              <a:t>crosses</a:t>
            </a:r>
            <a:r>
              <a:rPr sz="1100" spc="229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approximately</a:t>
            </a:r>
            <a:r>
              <a:rPr sz="1100" spc="2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70" dirty="0">
                <a:solidFill>
                  <a:srgbClr val="595959"/>
                </a:solidFill>
                <a:latin typeface="Calibri"/>
                <a:cs typeface="Calibri"/>
              </a:rPr>
              <a:t>50%</a:t>
            </a:r>
            <a:r>
              <a:rPr sz="1100" spc="229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1100" spc="229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value</a:t>
            </a:r>
            <a:r>
              <a:rPr sz="1100" spc="2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which</a:t>
            </a:r>
            <a:r>
              <a:rPr sz="1100" spc="229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1100" spc="229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.54.</a:t>
            </a:r>
            <a:r>
              <a:rPr sz="1100" spc="2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65" dirty="0">
                <a:solidFill>
                  <a:srgbClr val="595959"/>
                </a:solidFill>
                <a:latin typeface="Calibri"/>
                <a:cs typeface="Calibri"/>
              </a:rPr>
              <a:t>Same</a:t>
            </a:r>
            <a:r>
              <a:rPr sz="1100" spc="229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75" dirty="0">
                <a:solidFill>
                  <a:srgbClr val="595959"/>
                </a:solidFill>
                <a:latin typeface="Calibri"/>
                <a:cs typeface="Calibri"/>
              </a:rPr>
              <a:t>goes</a:t>
            </a:r>
            <a:r>
              <a:rPr sz="1100" spc="229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1100" spc="229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595959"/>
                </a:solidFill>
                <a:latin typeface="Calibri"/>
                <a:cs typeface="Calibri"/>
              </a:rPr>
              <a:t>the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input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waveform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then</a:t>
            </a:r>
            <a:r>
              <a:rPr sz="1100" spc="1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look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diﬀerence</a:t>
            </a:r>
            <a:r>
              <a:rPr sz="1100" spc="1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cursor</a:t>
            </a:r>
            <a:r>
              <a:rPr sz="1100" spc="1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point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it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matches</a:t>
            </a:r>
            <a:r>
              <a:rPr sz="1100" spc="1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595959"/>
                </a:solidFill>
                <a:latin typeface="Calibri"/>
                <a:cs typeface="Calibri"/>
              </a:rPr>
              <a:t>with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100" spc="3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delay</a:t>
            </a:r>
            <a:r>
              <a:rPr sz="1100" spc="3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calculated</a:t>
            </a:r>
            <a:r>
              <a:rPr sz="1100" spc="3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by</a:t>
            </a:r>
            <a:r>
              <a:rPr sz="1100" spc="3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eldo</a:t>
            </a:r>
            <a:r>
              <a:rPr sz="1100" spc="3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100" spc="3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595959"/>
                </a:solidFill>
                <a:latin typeface="Calibri"/>
                <a:cs typeface="Calibri"/>
              </a:rPr>
              <a:t>hence</a:t>
            </a:r>
            <a:r>
              <a:rPr sz="1100" spc="3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verifying</a:t>
            </a:r>
            <a:r>
              <a:rPr sz="1100" spc="3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all</a:t>
            </a:r>
            <a:r>
              <a:rPr sz="1100" spc="3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our</a:t>
            </a:r>
            <a:r>
              <a:rPr sz="1100" spc="3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values</a:t>
            </a:r>
            <a:r>
              <a:rPr sz="1100" spc="3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100" spc="3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method.</a:t>
            </a:r>
            <a:r>
              <a:rPr sz="1100" spc="3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95" dirty="0">
                <a:solidFill>
                  <a:srgbClr val="595959"/>
                </a:solidFill>
                <a:latin typeface="Calibri"/>
                <a:cs typeface="Calibri"/>
              </a:rPr>
              <a:t>So</a:t>
            </a:r>
            <a:r>
              <a:rPr sz="1100" spc="3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40" dirty="0">
                <a:solidFill>
                  <a:srgbClr val="595959"/>
                </a:solidFill>
                <a:latin typeface="Calibri"/>
                <a:cs typeface="Calibri"/>
              </a:rPr>
              <a:t>as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shown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1100" spc="1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right</a:t>
            </a:r>
            <a:r>
              <a:rPr sz="1100" spc="1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side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graph,</a:t>
            </a:r>
            <a:r>
              <a:rPr sz="1100" spc="1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pointers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1100" spc="1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placed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at</a:t>
            </a:r>
            <a:r>
              <a:rPr sz="1100" spc="1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70" dirty="0">
                <a:solidFill>
                  <a:srgbClr val="595959"/>
                </a:solidFill>
                <a:latin typeface="Calibri"/>
                <a:cs typeface="Calibri"/>
              </a:rPr>
              <a:t>50%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1100" spc="1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their</a:t>
            </a:r>
            <a:r>
              <a:rPr sz="1100" spc="1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value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100" spc="1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when</a:t>
            </a:r>
            <a:r>
              <a:rPr sz="11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Calibri"/>
                <a:cs typeface="Calibri"/>
              </a:rPr>
              <a:t>their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diﬀerence</a:t>
            </a:r>
            <a:r>
              <a:rPr sz="1100" spc="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1100" spc="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65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1100" spc="1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1100" spc="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this</a:t>
            </a:r>
            <a:r>
              <a:rPr sz="1100" spc="1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65" dirty="0">
                <a:solidFill>
                  <a:srgbClr val="595959"/>
                </a:solidFill>
                <a:latin typeface="Calibri"/>
                <a:cs typeface="Calibri"/>
              </a:rPr>
              <a:t>case</a:t>
            </a:r>
            <a:r>
              <a:rPr sz="1100" spc="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it</a:t>
            </a:r>
            <a:r>
              <a:rPr sz="1100" spc="1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1100" spc="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tplh</a:t>
            </a:r>
            <a:r>
              <a:rPr sz="1100" spc="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(B)</a:t>
            </a:r>
            <a:r>
              <a:rPr sz="1100" spc="1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which</a:t>
            </a:r>
            <a:r>
              <a:rPr sz="1100" spc="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595959"/>
                </a:solidFill>
                <a:latin typeface="Calibri"/>
                <a:cs typeface="Calibri"/>
              </a:rPr>
              <a:t>comes</a:t>
            </a:r>
            <a:r>
              <a:rPr sz="1100" spc="1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out</a:t>
            </a:r>
            <a:r>
              <a:rPr sz="1100" spc="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1100" spc="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1100" spc="1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65" dirty="0">
                <a:solidFill>
                  <a:srgbClr val="595959"/>
                </a:solidFill>
                <a:latin typeface="Calibri"/>
                <a:cs typeface="Calibri"/>
              </a:rPr>
              <a:t>458</a:t>
            </a:r>
            <a:r>
              <a:rPr sz="1100" spc="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70" dirty="0">
                <a:solidFill>
                  <a:srgbClr val="595959"/>
                </a:solidFill>
                <a:latin typeface="Calibri"/>
                <a:cs typeface="Calibri"/>
              </a:rPr>
              <a:t>ps</a:t>
            </a:r>
            <a:r>
              <a:rPr sz="1100" spc="1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which</a:t>
            </a:r>
            <a:r>
              <a:rPr sz="1100" spc="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Calibri"/>
                <a:cs typeface="Calibri"/>
              </a:rPr>
              <a:t>matches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1100" spc="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100" spc="1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eldo</a:t>
            </a:r>
            <a:r>
              <a:rPr sz="1100" spc="1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simulation</a:t>
            </a:r>
            <a:r>
              <a:rPr sz="1100" spc="1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value</a:t>
            </a:r>
            <a:r>
              <a:rPr sz="1100" spc="1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shown</a:t>
            </a:r>
            <a:r>
              <a:rPr sz="1100" spc="1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1100" spc="1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100" spc="1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Calibri"/>
                <a:cs typeface="Calibri"/>
              </a:rPr>
              <a:t>table.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27724" y="971999"/>
            <a:ext cx="4173220" cy="4037329"/>
            <a:chOff x="4227724" y="971999"/>
            <a:chExt cx="4173220" cy="403732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7250" y="1130230"/>
              <a:ext cx="1575733" cy="159986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32487" y="976762"/>
              <a:ext cx="2153920" cy="1901825"/>
            </a:xfrm>
            <a:custGeom>
              <a:avLst/>
              <a:gdLst/>
              <a:ahLst/>
              <a:cxnLst/>
              <a:rect l="l" t="t" r="r" b="b"/>
              <a:pathLst>
                <a:path w="2153920" h="1901825">
                  <a:moveTo>
                    <a:pt x="0" y="0"/>
                  </a:moveTo>
                  <a:lnTo>
                    <a:pt x="2153647" y="0"/>
                  </a:lnTo>
                  <a:lnTo>
                    <a:pt x="2153647" y="1901675"/>
                  </a:lnTo>
                  <a:lnTo>
                    <a:pt x="0" y="19016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1175" y="981525"/>
              <a:ext cx="2070049" cy="40181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316412" y="976762"/>
              <a:ext cx="2079625" cy="4027804"/>
            </a:xfrm>
            <a:custGeom>
              <a:avLst/>
              <a:gdLst/>
              <a:ahLst/>
              <a:cxnLst/>
              <a:rect l="l" t="t" r="r" b="b"/>
              <a:pathLst>
                <a:path w="2079625" h="4027804">
                  <a:moveTo>
                    <a:pt x="0" y="0"/>
                  </a:moveTo>
                  <a:lnTo>
                    <a:pt x="2079574" y="0"/>
                  </a:lnTo>
                  <a:lnTo>
                    <a:pt x="2079574" y="4027699"/>
                  </a:lnTo>
                  <a:lnTo>
                    <a:pt x="0" y="4027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Eldo</a:t>
            </a:r>
            <a:r>
              <a:rPr spc="-114" dirty="0"/>
              <a:t> </a:t>
            </a:r>
            <a:r>
              <a:rPr spc="-30" dirty="0"/>
              <a:t>Waveform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2100" y="1054462"/>
            <a:ext cx="6296570" cy="39209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Stick</a:t>
            </a:r>
            <a:r>
              <a:rPr spc="-65" dirty="0"/>
              <a:t> </a:t>
            </a:r>
            <a:r>
              <a:rPr spc="-10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5400" y="1014900"/>
            <a:ext cx="5525850" cy="37015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9250" y="4724305"/>
            <a:ext cx="75768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595959"/>
                </a:solidFill>
                <a:latin typeface="Calibri"/>
                <a:cs typeface="Calibri"/>
              </a:rPr>
              <a:t>Note:</a:t>
            </a:r>
            <a:r>
              <a:rPr sz="1500" spc="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spc="114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1500" spc="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595959"/>
                </a:solidFill>
                <a:latin typeface="Calibri"/>
                <a:cs typeface="Calibri"/>
              </a:rPr>
              <a:t>our</a:t>
            </a:r>
            <a:r>
              <a:rPr sz="1500" spc="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spc="60" dirty="0">
                <a:solidFill>
                  <a:srgbClr val="595959"/>
                </a:solidFill>
                <a:latin typeface="Calibri"/>
                <a:cs typeface="Calibri"/>
              </a:rPr>
              <a:t>logic</a:t>
            </a:r>
            <a:r>
              <a:rPr sz="1500" spc="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1500" spc="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spc="75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1500" spc="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595959"/>
                </a:solidFill>
                <a:latin typeface="Calibri"/>
                <a:cs typeface="Calibri"/>
              </a:rPr>
              <a:t>upon</a:t>
            </a:r>
            <a:r>
              <a:rPr sz="1500" spc="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595959"/>
                </a:solidFill>
                <a:latin typeface="Calibri"/>
                <a:cs typeface="Calibri"/>
              </a:rPr>
              <a:t>2X1</a:t>
            </a:r>
            <a:r>
              <a:rPr sz="1500" spc="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spc="70" dirty="0">
                <a:solidFill>
                  <a:srgbClr val="595959"/>
                </a:solidFill>
                <a:latin typeface="Calibri"/>
                <a:cs typeface="Calibri"/>
              </a:rPr>
              <a:t>MUX</a:t>
            </a:r>
            <a:r>
              <a:rPr sz="1500" spc="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spc="85" dirty="0">
                <a:solidFill>
                  <a:srgbClr val="595959"/>
                </a:solidFill>
                <a:latin typeface="Calibri"/>
                <a:cs typeface="Calibri"/>
              </a:rPr>
              <a:t>so</a:t>
            </a:r>
            <a:r>
              <a:rPr sz="1500" spc="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spc="50" dirty="0">
                <a:solidFill>
                  <a:srgbClr val="595959"/>
                </a:solidFill>
                <a:latin typeface="Calibri"/>
                <a:cs typeface="Calibri"/>
              </a:rPr>
              <a:t>we</a:t>
            </a:r>
            <a:r>
              <a:rPr sz="1500" spc="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spc="65" dirty="0">
                <a:solidFill>
                  <a:srgbClr val="595959"/>
                </a:solidFill>
                <a:latin typeface="Calibri"/>
                <a:cs typeface="Calibri"/>
              </a:rPr>
              <a:t>have</a:t>
            </a:r>
            <a:r>
              <a:rPr sz="1500" spc="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spc="60" dirty="0">
                <a:solidFill>
                  <a:srgbClr val="595959"/>
                </a:solidFill>
                <a:latin typeface="Calibri"/>
                <a:cs typeface="Calibri"/>
              </a:rPr>
              <a:t>made</a:t>
            </a:r>
            <a:r>
              <a:rPr sz="1500" spc="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1500" spc="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595959"/>
                </a:solidFill>
                <a:latin typeface="Calibri"/>
                <a:cs typeface="Calibri"/>
              </a:rPr>
              <a:t>stick</a:t>
            </a:r>
            <a:r>
              <a:rPr sz="1500" spc="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595959"/>
                </a:solidFill>
                <a:latin typeface="Calibri"/>
                <a:cs typeface="Calibri"/>
              </a:rPr>
              <a:t>diagram</a:t>
            </a:r>
            <a:r>
              <a:rPr sz="1500" spc="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1500" spc="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595959"/>
                </a:solidFill>
                <a:latin typeface="Calibri"/>
                <a:cs typeface="Calibri"/>
              </a:rPr>
              <a:t>2x1</a:t>
            </a:r>
            <a:r>
              <a:rPr sz="1500" spc="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595959"/>
                </a:solidFill>
                <a:latin typeface="Calibri"/>
                <a:cs typeface="Calibri"/>
              </a:rPr>
              <a:t>mux.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Work</a:t>
            </a:r>
            <a:r>
              <a:rPr spc="-12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250" y="1135362"/>
            <a:ext cx="5692140" cy="3503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55" dirty="0">
                <a:solidFill>
                  <a:srgbClr val="3EADA7"/>
                </a:solidFill>
                <a:latin typeface="Calibri"/>
                <a:cs typeface="Calibri"/>
              </a:rPr>
              <a:t>Current</a:t>
            </a:r>
            <a:r>
              <a:rPr sz="1400" b="1" spc="70" dirty="0">
                <a:solidFill>
                  <a:srgbClr val="3EADA7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EADA7"/>
                </a:solidFill>
                <a:latin typeface="Calibri"/>
                <a:cs typeface="Calibri"/>
              </a:rPr>
              <a:t>Work</a:t>
            </a:r>
            <a:r>
              <a:rPr sz="1400" b="1" spc="75" dirty="0">
                <a:solidFill>
                  <a:srgbClr val="3EADA7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EADA7"/>
                </a:solidFill>
                <a:latin typeface="Calibri"/>
                <a:cs typeface="Calibri"/>
              </a:rPr>
              <a:t>Distribution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b="1" spc="20" dirty="0">
                <a:solidFill>
                  <a:srgbClr val="595959"/>
                </a:solidFill>
                <a:latin typeface="Calibri"/>
                <a:cs typeface="Calibri"/>
              </a:rPr>
              <a:t>Virtuoso</a:t>
            </a:r>
            <a:r>
              <a:rPr sz="1400" b="1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b="1" spc="65" dirty="0">
                <a:solidFill>
                  <a:srgbClr val="595959"/>
                </a:solidFill>
                <a:latin typeface="Calibri"/>
                <a:cs typeface="Calibri"/>
              </a:rPr>
              <a:t>Schematic</a:t>
            </a:r>
            <a:r>
              <a:rPr sz="1400" b="1" spc="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b="1" spc="65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400" b="1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b="1" spc="120" dirty="0">
                <a:solidFill>
                  <a:srgbClr val="595959"/>
                </a:solidFill>
                <a:latin typeface="Calibri"/>
                <a:cs typeface="Calibri"/>
              </a:rPr>
              <a:t>ADEL</a:t>
            </a:r>
            <a:r>
              <a:rPr sz="1400" b="1" spc="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b="1" spc="20" dirty="0">
                <a:solidFill>
                  <a:srgbClr val="595959"/>
                </a:solidFill>
                <a:latin typeface="Calibri"/>
                <a:cs typeface="Calibri"/>
              </a:rPr>
              <a:t>veriﬁcation:</a:t>
            </a:r>
            <a:r>
              <a:rPr sz="1400" b="1" spc="120" dirty="0">
                <a:solidFill>
                  <a:srgbClr val="595959"/>
                </a:solidFill>
                <a:latin typeface="Calibri"/>
                <a:cs typeface="Calibri"/>
              </a:rPr>
              <a:t>  </a:t>
            </a:r>
            <a:r>
              <a:rPr sz="1400" spc="20" dirty="0">
                <a:solidFill>
                  <a:srgbClr val="595959"/>
                </a:solidFill>
                <a:latin typeface="Calibri"/>
                <a:cs typeface="Calibri"/>
              </a:rPr>
              <a:t>Abhishek,</a:t>
            </a:r>
            <a:r>
              <a:rPr sz="1400" spc="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595959"/>
                </a:solidFill>
                <a:latin typeface="Calibri"/>
                <a:cs typeface="Calibri"/>
              </a:rPr>
              <a:t>Devashish,</a:t>
            </a:r>
            <a:r>
              <a:rPr sz="1400" spc="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Vishal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spc="155" dirty="0">
                <a:solidFill>
                  <a:srgbClr val="595959"/>
                </a:solidFill>
                <a:latin typeface="Calibri"/>
                <a:cs typeface="Calibri"/>
              </a:rPr>
              <a:t>X</a:t>
            </a:r>
            <a:r>
              <a:rPr sz="1400" b="1" spc="50" dirty="0">
                <a:solidFill>
                  <a:srgbClr val="595959"/>
                </a:solidFill>
                <a:latin typeface="Calibri"/>
                <a:cs typeface="Calibri"/>
              </a:rPr>
              <a:t> Circuit </a:t>
            </a:r>
            <a:r>
              <a:rPr sz="1400" b="1" spc="55" dirty="0">
                <a:solidFill>
                  <a:srgbClr val="595959"/>
                </a:solidFill>
                <a:latin typeface="Calibri"/>
                <a:cs typeface="Calibri"/>
              </a:rPr>
              <a:t>Schematic:</a:t>
            </a:r>
            <a:r>
              <a:rPr sz="1400" b="1" spc="409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Rahul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spc="120" dirty="0">
                <a:solidFill>
                  <a:srgbClr val="595959"/>
                </a:solidFill>
                <a:latin typeface="Calibri"/>
                <a:cs typeface="Calibri"/>
              </a:rPr>
              <a:t>ELDO</a:t>
            </a:r>
            <a:r>
              <a:rPr sz="1400" b="1" spc="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b="1" spc="20" dirty="0">
                <a:solidFill>
                  <a:srgbClr val="595959"/>
                </a:solidFill>
                <a:latin typeface="Calibri"/>
                <a:cs typeface="Calibri"/>
              </a:rPr>
              <a:t>Simulation:</a:t>
            </a:r>
            <a:r>
              <a:rPr sz="1400" b="1" spc="130" dirty="0">
                <a:solidFill>
                  <a:srgbClr val="595959"/>
                </a:solidFill>
                <a:latin typeface="Calibri"/>
                <a:cs typeface="Calibri"/>
              </a:rPr>
              <a:t>  </a:t>
            </a:r>
            <a:r>
              <a:rPr sz="1400" spc="55" dirty="0">
                <a:solidFill>
                  <a:srgbClr val="595959"/>
                </a:solidFill>
                <a:latin typeface="Calibri"/>
                <a:cs typeface="Calibri"/>
              </a:rPr>
              <a:t>Devashish,</a:t>
            </a:r>
            <a:r>
              <a:rPr sz="1400" spc="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Calibri"/>
                <a:cs typeface="Calibri"/>
              </a:rPr>
              <a:t>Abhishek,</a:t>
            </a:r>
            <a:r>
              <a:rPr sz="1400" spc="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Vishal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spc="20" dirty="0">
                <a:solidFill>
                  <a:srgbClr val="595959"/>
                </a:solidFill>
                <a:latin typeface="Calibri"/>
                <a:cs typeface="Calibri"/>
              </a:rPr>
              <a:t>Veriﬁcation</a:t>
            </a:r>
            <a:r>
              <a:rPr sz="1400" b="1" spc="1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b="1" spc="20" dirty="0">
                <a:solidFill>
                  <a:srgbClr val="595959"/>
                </a:solidFill>
                <a:latin typeface="Calibri"/>
                <a:cs typeface="Calibri"/>
              </a:rPr>
              <a:t>Plan:</a:t>
            </a:r>
            <a:r>
              <a:rPr sz="1400" b="1" spc="175" dirty="0">
                <a:solidFill>
                  <a:srgbClr val="595959"/>
                </a:solidFill>
                <a:latin typeface="Calibri"/>
                <a:cs typeface="Calibri"/>
              </a:rPr>
              <a:t>  </a:t>
            </a:r>
            <a:r>
              <a:rPr sz="1400" spc="20" dirty="0">
                <a:solidFill>
                  <a:srgbClr val="595959"/>
                </a:solidFill>
                <a:latin typeface="Calibri"/>
                <a:cs typeface="Calibri"/>
              </a:rPr>
              <a:t>Abhishek,</a:t>
            </a:r>
            <a:r>
              <a:rPr sz="1400" spc="1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Rahul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spc="60" dirty="0">
                <a:solidFill>
                  <a:srgbClr val="595959"/>
                </a:solidFill>
                <a:latin typeface="Calibri"/>
                <a:cs typeface="Calibri"/>
              </a:rPr>
              <a:t>Stick</a:t>
            </a:r>
            <a:r>
              <a:rPr sz="1400" b="1" spc="50" dirty="0">
                <a:solidFill>
                  <a:srgbClr val="595959"/>
                </a:solidFill>
                <a:latin typeface="Calibri"/>
                <a:cs typeface="Calibri"/>
              </a:rPr>
              <a:t> Diagram:</a:t>
            </a:r>
            <a:r>
              <a:rPr sz="1400" b="1" spc="409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595959"/>
                </a:solidFill>
                <a:latin typeface="Calibri"/>
                <a:cs typeface="Calibri"/>
              </a:rPr>
              <a:t>Devashish,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Vishal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spc="55" dirty="0">
                <a:solidFill>
                  <a:srgbClr val="3EADA7"/>
                </a:solidFill>
                <a:latin typeface="Calibri"/>
                <a:cs typeface="Calibri"/>
              </a:rPr>
              <a:t>Future</a:t>
            </a:r>
            <a:r>
              <a:rPr sz="1400" b="1" spc="50" dirty="0">
                <a:solidFill>
                  <a:srgbClr val="3EADA7"/>
                </a:solidFill>
                <a:latin typeface="Calibri"/>
                <a:cs typeface="Calibri"/>
              </a:rPr>
              <a:t> </a:t>
            </a:r>
            <a:r>
              <a:rPr sz="1400" b="1" spc="40" dirty="0">
                <a:solidFill>
                  <a:srgbClr val="3EADA7"/>
                </a:solidFill>
                <a:latin typeface="Calibri"/>
                <a:cs typeface="Calibri"/>
              </a:rPr>
              <a:t>Plan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Layout</a:t>
            </a:r>
            <a:endParaRPr sz="1400">
              <a:latin typeface="Calibri"/>
              <a:cs typeface="Calibri"/>
            </a:endParaRPr>
          </a:p>
          <a:p>
            <a:pPr marL="12700" marR="3295015">
              <a:lnSpc>
                <a:spcPct val="100000"/>
              </a:lnSpc>
            </a:pP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Power</a:t>
            </a:r>
            <a:r>
              <a:rPr sz="14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4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Current</a:t>
            </a:r>
            <a:r>
              <a:rPr sz="1400" spc="1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Calculation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Post</a:t>
            </a:r>
            <a:r>
              <a:rPr sz="1400" spc="2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Layout</a:t>
            </a:r>
            <a:r>
              <a:rPr sz="1400" spc="2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595959"/>
                </a:solidFill>
                <a:latin typeface="Calibri"/>
                <a:cs typeface="Calibri"/>
              </a:rPr>
              <a:t>Delays</a:t>
            </a:r>
            <a:endParaRPr sz="1400">
              <a:latin typeface="Calibri"/>
              <a:cs typeface="Calibri"/>
            </a:endParaRPr>
          </a:p>
          <a:p>
            <a:pPr marL="12700" marR="3128645">
              <a:lnSpc>
                <a:spcPct val="100000"/>
              </a:lnSpc>
            </a:pP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Testing</a:t>
            </a:r>
            <a:r>
              <a:rPr sz="1400" spc="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at</a:t>
            </a:r>
            <a:r>
              <a:rPr sz="1400" spc="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other</a:t>
            </a:r>
            <a:r>
              <a:rPr sz="1400" spc="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100" dirty="0">
                <a:solidFill>
                  <a:srgbClr val="595959"/>
                </a:solidFill>
                <a:latin typeface="Calibri"/>
                <a:cs typeface="Calibri"/>
              </a:rPr>
              <a:t>PVT</a:t>
            </a:r>
            <a:r>
              <a:rPr sz="1400" spc="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Parameters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Monte</a:t>
            </a:r>
            <a:r>
              <a:rPr sz="1400" spc="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595959"/>
                </a:solidFill>
                <a:latin typeface="Calibri"/>
                <a:cs typeface="Calibri"/>
              </a:rPr>
              <a:t>Carlo</a:t>
            </a:r>
            <a:r>
              <a:rPr sz="1400" spc="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Simulation </a:t>
            </a:r>
            <a:r>
              <a:rPr sz="1400" spc="50" dirty="0">
                <a:solidFill>
                  <a:srgbClr val="595959"/>
                </a:solidFill>
                <a:latin typeface="Calibri"/>
                <a:cs typeface="Calibri"/>
              </a:rPr>
              <a:t>Comparison</a:t>
            </a:r>
            <a:r>
              <a:rPr sz="1400" spc="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595959"/>
                </a:solidFill>
                <a:latin typeface="Calibri"/>
                <a:cs typeface="Calibri"/>
              </a:rPr>
              <a:t>Pre</a:t>
            </a:r>
            <a:r>
              <a:rPr sz="1400" spc="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1400" spc="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Post</a:t>
            </a:r>
            <a:r>
              <a:rPr sz="1400" spc="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Layout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568</Words>
  <Application>Microsoft Office PowerPoint</Application>
  <PresentationFormat>On-screen Show (16:9)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4 input XNOR gate using 2X1 MUX</vt:lpstr>
      <vt:lpstr>What logic has been used?</vt:lpstr>
      <vt:lpstr>Schematic + Sizing</vt:lpstr>
      <vt:lpstr>Stimuli For Verification &amp; Verification Plan</vt:lpstr>
      <vt:lpstr>Delay Calculation &amp; Verification</vt:lpstr>
      <vt:lpstr>Eldo Waveform</vt:lpstr>
      <vt:lpstr>Stick Diagram</vt:lpstr>
      <vt:lpstr>Work Distribution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DVD_Project</dc:title>
  <dc:creator>abhishek sethi</dc:creator>
  <cp:lastModifiedBy>abhishek sethi</cp:lastModifiedBy>
  <cp:revision>1</cp:revision>
  <dcterms:created xsi:type="dcterms:W3CDTF">2025-10-12T16:22:57Z</dcterms:created>
  <dcterms:modified xsi:type="dcterms:W3CDTF">2025-10-12T16:25:02Z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2025-10-12T00:00:00Z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2025-10-12T00:00:00Z</vt:filetime>
  </property>
</Properties>
</file>